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26"/>
  </p:notesMasterIdLst>
  <p:handoutMasterIdLst>
    <p:handoutMasterId r:id="rId27"/>
  </p:handoutMasterIdLst>
  <p:sldIdLst>
    <p:sldId id="257" r:id="rId2"/>
    <p:sldId id="300" r:id="rId3"/>
    <p:sldId id="301" r:id="rId4"/>
    <p:sldId id="303" r:id="rId5"/>
    <p:sldId id="304" r:id="rId6"/>
    <p:sldId id="302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9" r:id="rId18"/>
    <p:sldId id="315" r:id="rId19"/>
    <p:sldId id="316" r:id="rId20"/>
    <p:sldId id="317" r:id="rId21"/>
    <p:sldId id="318" r:id="rId22"/>
    <p:sldId id="320" r:id="rId23"/>
    <p:sldId id="321" r:id="rId24"/>
    <p:sldId id="26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3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6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83" r:id="rId3"/>
    <p:sldLayoutId id="2147483679" r:id="rId4"/>
    <p:sldLayoutId id="2147483680" r:id="rId5"/>
    <p:sldLayoutId id="2147483681" r:id="rId6"/>
    <p:sldLayoutId id="2147483682" r:id="rId7"/>
    <p:sldLayoutId id="2147483678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Chap 9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Lyapunov Analysis</a:t>
            </a: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F6939-22AE-721F-4F32-189129100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BFC2F9-15AA-052F-B800-9B9C79633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42B1B3-3D04-B33E-13F4-D14BC10A3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37" y="106605"/>
            <a:ext cx="8673846" cy="451739"/>
          </a:xfrm>
        </p:spPr>
        <p:txBody>
          <a:bodyPr/>
          <a:lstStyle/>
          <a:p>
            <a:r>
              <a:rPr lang="en-US" dirty="0"/>
              <a:t>9.2 </a:t>
            </a:r>
            <a:r>
              <a:rPr lang="en-US" cap="small" dirty="0"/>
              <a:t>Lyapunov analysis with convex optimization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A587896-5D5C-84C9-583D-1E92A053527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vi-VN"/>
                      <m:t>L</m:t>
                    </m:r>
                    <m:r>
                      <m:rPr>
                        <m:nor/>
                      </m:rPr>
                      <a:rPr lang="vi-VN"/>
                      <m:t>ý </m:t>
                    </m:r>
                    <m:r>
                      <m:rPr>
                        <m:nor/>
                      </m:rPr>
                      <a:rPr lang="vi-VN"/>
                      <m:t>thuy</m:t>
                    </m:r>
                    <m:r>
                      <m:rPr>
                        <m:nor/>
                      </m:rPr>
                      <a:rPr lang="vi-VN"/>
                      <m:t>ế</m:t>
                    </m:r>
                    <m:r>
                      <m:rPr>
                        <m:nor/>
                      </m:rPr>
                      <a:rPr lang="vi-VN"/>
                      <m:t>t</m:t>
                    </m:r>
                    <m:r>
                      <m:rPr>
                        <m:nor/>
                      </m:rPr>
                      <a:rPr lang="vi-VN"/>
                      <m:t> </m:t>
                    </m:r>
                    <m:r>
                      <m:rPr>
                        <m:nor/>
                      </m:rPr>
                      <a:rPr lang="vi-VN"/>
                      <m:t>Lyapunov</m:t>
                    </m:r>
                    <m:r>
                      <m:rPr>
                        <m:nor/>
                      </m:rPr>
                      <a:rPr lang="vi-VN"/>
                      <m:t> </m:t>
                    </m:r>
                    <m:r>
                      <m:rPr>
                        <m:nor/>
                      </m:rPr>
                      <a:rPr lang="vi-VN"/>
                      <m:t>r</m:t>
                    </m:r>
                    <m:r>
                      <m:rPr>
                        <m:nor/>
                      </m:rPr>
                      <a:rPr lang="vi-VN"/>
                      <m:t>ấ</m:t>
                    </m:r>
                    <m:r>
                      <m:rPr>
                        <m:nor/>
                      </m:rPr>
                      <a:rPr lang="vi-VN"/>
                      <m:t>t</m:t>
                    </m:r>
                    <m:r>
                      <m:rPr>
                        <m:nor/>
                      </m:rPr>
                      <a:rPr lang="vi-VN"/>
                      <m:t> </m:t>
                    </m:r>
                    <m:r>
                      <m:rPr>
                        <m:nor/>
                      </m:rPr>
                      <a:rPr lang="vi-VN"/>
                      <m:t>m</m:t>
                    </m:r>
                    <m:r>
                      <m:rPr>
                        <m:nor/>
                      </m:rPr>
                      <a:rPr lang="vi-VN"/>
                      <m:t>ạ</m:t>
                    </m:r>
                    <m:r>
                      <m:rPr>
                        <m:nor/>
                      </m:rPr>
                      <a:rPr lang="vi-VN"/>
                      <m:t>nh</m:t>
                    </m:r>
                    <m:r>
                      <m:rPr>
                        <m:nor/>
                      </m:rPr>
                      <a:rPr lang="vi-VN"/>
                      <m:t> để </m:t>
                    </m:r>
                    <m:r>
                      <m:rPr>
                        <m:nor/>
                      </m:rPr>
                      <a:rPr lang="vi-VN"/>
                      <m:t>ch</m:t>
                    </m:r>
                    <m:r>
                      <m:rPr>
                        <m:nor/>
                      </m:rPr>
                      <a:rPr lang="vi-VN"/>
                      <m:t>ứ</m:t>
                    </m:r>
                    <m:r>
                      <m:rPr>
                        <m:nor/>
                      </m:rPr>
                      <a:rPr lang="vi-VN"/>
                      <m:t>ng</m:t>
                    </m:r>
                    <m:r>
                      <m:rPr>
                        <m:nor/>
                      </m:rPr>
                      <a:rPr lang="vi-VN"/>
                      <m:t> </m:t>
                    </m:r>
                    <m:r>
                      <m:rPr>
                        <m:nor/>
                      </m:rPr>
                      <a:rPr lang="vi-VN"/>
                      <m:t>minh</m:t>
                    </m:r>
                    <m:r>
                      <m:rPr>
                        <m:nor/>
                      </m:rPr>
                      <a:rPr lang="vi-VN"/>
                      <m:t> </m:t>
                    </m:r>
                    <m:r>
                      <m:rPr>
                        <m:nor/>
                      </m:rPr>
                      <a:rPr lang="vi-VN"/>
                      <m:t>h</m:t>
                    </m:r>
                    <m:r>
                      <m:rPr>
                        <m:nor/>
                      </m:rPr>
                      <a:rPr lang="vi-VN"/>
                      <m:t>ệ </m:t>
                    </m:r>
                    <m:r>
                      <m:rPr>
                        <m:nor/>
                      </m:rPr>
                      <a:rPr lang="vi-VN"/>
                      <m:t>th</m:t>
                    </m:r>
                    <m:r>
                      <m:rPr>
                        <m:nor/>
                      </m:rPr>
                      <a:rPr lang="vi-VN"/>
                      <m:t>ố</m:t>
                    </m:r>
                    <m:r>
                      <m:rPr>
                        <m:nor/>
                      </m:rPr>
                      <a:rPr lang="vi-VN"/>
                      <m:t>ng</m:t>
                    </m:r>
                    <m:r>
                      <m:rPr>
                        <m:nor/>
                      </m:rPr>
                      <a:rPr lang="vi-VN"/>
                      <m:t> ổ</m:t>
                    </m:r>
                    <m:r>
                      <m:rPr>
                        <m:nor/>
                      </m:rPr>
                      <a:rPr lang="vi-VN"/>
                      <m:t>n</m:t>
                    </m:r>
                    <m:r>
                      <m:rPr>
                        <m:nor/>
                      </m:rPr>
                      <a:rPr lang="vi-VN"/>
                      <m:t> đị</m:t>
                    </m:r>
                    <m:r>
                      <m:rPr>
                        <m:nor/>
                      </m:rPr>
                      <a:rPr lang="vi-VN"/>
                      <m:t>nh</m:t>
                    </m:r>
                    <m:r>
                      <m:rPr>
                        <m:nor/>
                      </m:rPr>
                      <a:rPr lang="vi-VN"/>
                      <m:t>, </m:t>
                    </m:r>
                    <m:r>
                      <m:rPr>
                        <m:nor/>
                      </m:rPr>
                      <a:rPr lang="vi-VN"/>
                      <m:t>nh</m:t>
                    </m:r>
                    <m:r>
                      <m:rPr>
                        <m:nor/>
                      </m:rPr>
                      <a:rPr lang="vi-VN"/>
                      <m:t>ư</m:t>
                    </m:r>
                    <m:r>
                      <m:rPr>
                        <m:nor/>
                      </m:rPr>
                      <a:rPr lang="vi-VN"/>
                      <m:t>ng</m:t>
                    </m:r>
                    <m:r>
                      <m:rPr>
                        <m:nor/>
                      </m:rPr>
                      <a:rPr lang="vi-VN"/>
                      <m:t> </m:t>
                    </m:r>
                    <m:r>
                      <m:rPr>
                        <m:nor/>
                      </m:rPr>
                      <a:rPr lang="vi-VN"/>
                      <m:t>n</m:t>
                    </m:r>
                    <m:r>
                      <m:rPr>
                        <m:nor/>
                      </m:rPr>
                      <a:rPr lang="vi-VN"/>
                      <m:t>ó </m:t>
                    </m:r>
                    <m:r>
                      <m:rPr>
                        <m:nor/>
                      </m:rPr>
                      <a:rPr lang="vi-VN"/>
                      <m:t>c</m:t>
                    </m:r>
                    <m:r>
                      <m:rPr>
                        <m:nor/>
                      </m:rPr>
                      <a:rPr lang="vi-VN"/>
                      <m:t>ó </m:t>
                    </m:r>
                    <m:r>
                      <m:rPr>
                        <m:nor/>
                      </m:rPr>
                      <a:rPr lang="en-US" b="0" i="0" smtClean="0"/>
                      <m:t>hai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vi-VN"/>
                      <m:t>r</m:t>
                    </m:r>
                    <m:r>
                      <m:rPr>
                        <m:nor/>
                      </m:rPr>
                      <a:rPr lang="vi-VN"/>
                      <m:t>à</m:t>
                    </m:r>
                    <m:r>
                      <m:rPr>
                        <m:nor/>
                      </m:rPr>
                      <a:rPr lang="vi-VN"/>
                      <m:t>o</m:t>
                    </m:r>
                    <m:r>
                      <m:rPr>
                        <m:nor/>
                      </m:rPr>
                      <a:rPr lang="vi-VN"/>
                      <m:t> </m:t>
                    </m:r>
                    <m:r>
                      <m:rPr>
                        <m:nor/>
                      </m:rPr>
                      <a:rPr lang="vi-VN"/>
                      <m:t>c</m:t>
                    </m:r>
                    <m:r>
                      <m:rPr>
                        <m:nor/>
                      </m:rPr>
                      <a:rPr lang="vi-VN"/>
                      <m:t>ả</m:t>
                    </m:r>
                    <m:r>
                      <m:rPr>
                        <m:nor/>
                      </m:rPr>
                      <a:rPr lang="vi-VN"/>
                      <m:t>n</m:t>
                    </m:r>
                    <m:r>
                      <m:rPr>
                        <m:nor/>
                      </m:rPr>
                      <a:rPr lang="vi-VN"/>
                      <m:t> </m:t>
                    </m:r>
                    <m:r>
                      <m:rPr>
                        <m:nor/>
                      </m:rPr>
                      <a:rPr lang="vi-VN"/>
                      <m:t>l</m:t>
                    </m:r>
                    <m:r>
                      <m:rPr>
                        <m:nor/>
                      </m:rPr>
                      <a:rPr lang="vi-VN"/>
                      <m:t>ớ</m:t>
                    </m:r>
                    <m:r>
                      <m:rPr>
                        <m:nor/>
                      </m:rPr>
                      <a:rPr lang="vi-VN"/>
                      <m:t>n</m:t>
                    </m:r>
                    <m:r>
                      <m:rPr>
                        <m:nor/>
                      </m:rPr>
                      <a:rPr lang="vi-VN"/>
                      <m:t>:</m:t>
                    </m:r>
                  </m:oMath>
                </a14:m>
                <a:endParaRPr lang="en-US" dirty="0"/>
              </a:p>
              <a:p>
                <a:r>
                  <a:rPr lang="vi-VN" dirty="0"/>
                  <a:t>Tìm hàm ứng viên (V): Đối với các hệ thống “</a:t>
                </a:r>
                <a:r>
                  <a:rPr lang="en-US" dirty="0"/>
                  <a:t>underactuated</a:t>
                </a:r>
                <a:r>
                  <a:rPr lang="vi-VN" dirty="0"/>
                  <a:t>" (như robot bị thiếu cơ cấu chấp hành - underactuated), việc mò ra một hàm V</a:t>
                </a:r>
                <a:r>
                  <a:rPr lang="en-US" dirty="0"/>
                  <a:t>(x) </a:t>
                </a:r>
                <a:r>
                  <a:rPr lang="vi-VN" dirty="0"/>
                  <a:t>phù hợp là cực kỳ khó. Không có một công thức chung nào cho mọi hệ thống phi tuyến.</a:t>
                </a:r>
                <a:endParaRPr lang="en-US" dirty="0"/>
              </a:p>
              <a:p>
                <a:r>
                  <a:rPr lang="en-US" dirty="0"/>
                  <a:t>Khi </a:t>
                </a:r>
                <a:r>
                  <a:rPr lang="en-US" dirty="0" err="1"/>
                  <a:t>có</a:t>
                </a:r>
                <a:r>
                  <a:rPr lang="en-US" dirty="0"/>
                  <a:t> 1 </a:t>
                </a:r>
                <a:r>
                  <a:rPr lang="en-US" dirty="0" err="1"/>
                  <a:t>hàm</a:t>
                </a:r>
                <a:r>
                  <a:rPr lang="en-US" dirty="0"/>
                  <a:t> V(x) </a:t>
                </a:r>
                <a:r>
                  <a:rPr lang="en-US" dirty="0" err="1"/>
                  <a:t>vẫn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chắc</a:t>
                </a:r>
                <a:r>
                  <a:rPr lang="en-US" dirty="0"/>
                  <a:t> </a:t>
                </a:r>
                <a:r>
                  <a:rPr lang="en-US" dirty="0" err="1"/>
                  <a:t>chắn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endParaRPr lang="vi-VN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A587896-5D5C-84C9-583D-1E92A05352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266" r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3244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8A53F-ABC4-8A0D-29D8-4E304E1A9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39441E-4397-7B6D-B5FC-BF556067B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46526C-72FC-14C9-DEE3-CACD8A840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37" y="106605"/>
            <a:ext cx="8673846" cy="451739"/>
          </a:xfrm>
        </p:spPr>
        <p:txBody>
          <a:bodyPr/>
          <a:lstStyle/>
          <a:p>
            <a:r>
              <a:rPr lang="en-US" dirty="0"/>
              <a:t>9.2.1 </a:t>
            </a:r>
            <a:r>
              <a:rPr lang="en-US" cap="small" dirty="0"/>
              <a:t>Lyner systems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6BC86D1-1B06-B870-B6C0-5CDDB9A086F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vi-VN" sz="2400" dirty="0"/>
                  <a:t>Định lý 9.6 - Phân tích Lyapunov cho các hệ thống tuyến tính ổn định</a:t>
                </a:r>
                <a:endParaRPr lang="en-US" sz="2400" dirty="0"/>
              </a:p>
              <a:p>
                <a:r>
                  <a:rPr lang="en-US" sz="2400" dirty="0" err="1"/>
                  <a:t>Mô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hình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hệ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thống</a:t>
                </a:r>
                <a:r>
                  <a:rPr lang="en-US" sz="2400" dirty="0"/>
                  <a:t>: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𝐀𝐱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r>
                  <a:rPr lang="en-US" sz="2400" b="1" dirty="0" err="1"/>
                  <a:t>Hàm</a:t>
                </a:r>
                <a:r>
                  <a:rPr lang="en-US" sz="2400" b="1" dirty="0"/>
                  <a:t> Lyapunov </a:t>
                </a:r>
                <a:r>
                  <a:rPr lang="en-US" sz="2400" b="1" dirty="0" err="1"/>
                  <a:t>dạng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Bậc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hai</a:t>
                </a:r>
                <a:r>
                  <a:rPr lang="en-US" sz="2400" b="1" dirty="0"/>
                  <a:t> (Quadratic):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  <m:d>
                      <m:d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𝐓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𝐏𝐱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p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𝐓</m:t>
                          </m:r>
                        </m:sup>
                      </m:sSup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≻0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 err="1"/>
                  <a:t>Điều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kiện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ổn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định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đạo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hàm</a:t>
                </a:r>
                <a:r>
                  <a:rPr lang="en-US" sz="2400" dirty="0"/>
                  <a:t>: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𝐓</m:t>
                        </m:r>
                      </m:sup>
                    </m:sSup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𝐏𝐀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  <m:sup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𝐓</m:t>
                            </m:r>
                          </m:sup>
                        </m:s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≺0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i="1" dirty="0"/>
                  <a:t>Định </a:t>
                </a:r>
                <a:r>
                  <a:rPr lang="en-US" sz="2400" i="1" dirty="0" err="1"/>
                  <a:t>lý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quan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trọng</a:t>
                </a:r>
                <a:r>
                  <a:rPr lang="en-US" sz="2400" i="1" dirty="0"/>
                  <a:t>:  </a:t>
                </a:r>
                <a:r>
                  <a:rPr lang="en-US" sz="2400" i="1" dirty="0" err="1"/>
                  <a:t>Một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hệ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tuyến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tính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ổn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định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khi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và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chỉ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khi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tồn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tại</a:t>
                </a:r>
                <a:r>
                  <a:rPr lang="en-US" sz="2400" i="1" dirty="0"/>
                  <a:t> ma </a:t>
                </a:r>
                <a:r>
                  <a:rPr lang="en-US" sz="2400" i="1" dirty="0" err="1"/>
                  <a:t>trận</a:t>
                </a:r>
                <a:r>
                  <a:rPr lang="en-US" sz="2400" i="1" dirty="0"/>
                  <a:t> </a:t>
                </a:r>
                <a:r>
                  <a:rPr lang="en-US" sz="2400" b="1" i="1" dirty="0"/>
                  <a:t>P </a:t>
                </a:r>
                <a:r>
                  <a:rPr lang="en-US" sz="2400" i="1" dirty="0" err="1"/>
                  <a:t>thỏa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mãn</a:t>
                </a:r>
                <a:r>
                  <a:rPr lang="en-US" sz="2400" i="1" dirty="0"/>
                  <a:t>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𝐏𝐀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𝐓</m:t>
                        </m:r>
                      </m:sup>
                    </m:sSup>
                    <m:r>
                      <a:rPr lang="en-US" sz="2400" i="1" smtClean="0"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𝐐</m:t>
                    </m:r>
                  </m:oMath>
                </a14:m>
                <a:r>
                  <a:rPr lang="en-US" sz="2400" i="1" dirty="0"/>
                  <a:t>    </a:t>
                </a:r>
              </a:p>
              <a:p>
                <a:pPr marL="0" indent="0">
                  <a:buNone/>
                </a:pPr>
                <a:r>
                  <a:rPr lang="vi-VN" sz="2400" i="1" dirty="0"/>
                  <a:t>(Trong đó Q là một ma trận xác định dương bất kỳ).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6BC86D1-1B06-B870-B6C0-5CDDB9A086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125" t="-1609" r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283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1C660-4989-D508-F0DD-A06BCA1FA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5CF21C-00AB-84D5-AF8A-1B88D5720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8C93B1-9ADB-6617-1A0E-61A6FD554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37" y="106605"/>
            <a:ext cx="8673846" cy="451739"/>
          </a:xfrm>
        </p:spPr>
        <p:txBody>
          <a:bodyPr/>
          <a:lstStyle/>
          <a:p>
            <a:r>
              <a:rPr lang="en-US" dirty="0"/>
              <a:t>9.2.1 </a:t>
            </a:r>
            <a:r>
              <a:rPr lang="en-US" cap="small" dirty="0"/>
              <a:t>Lyner systems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536FF1-E53F-7BE9-4BF1-AD743DDC8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376" y="1023617"/>
            <a:ext cx="6331428" cy="522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337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35EB6-9004-722D-75B7-E1C0CA2D9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5ACBD6-7949-DF53-2B83-C09343C43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3F132B-DA01-BE57-C685-019C3F95A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37" y="106605"/>
            <a:ext cx="8673846" cy="451739"/>
          </a:xfrm>
        </p:spPr>
        <p:txBody>
          <a:bodyPr/>
          <a:lstStyle/>
          <a:p>
            <a:r>
              <a:rPr lang="en-US" dirty="0"/>
              <a:t>9.2 Positive Semi-definite - PSD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4BC7C-F9E0-F109-D8F3-C1746ED0BD5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dirty="0"/>
              <a:t>Tối ưu hóa lồi (Convex Optimization)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vi-VN" b="1" dirty="0"/>
              <a:t>Tối ưu hóa lồi</a:t>
            </a:r>
            <a:r>
              <a:rPr lang="vi-VN" dirty="0"/>
              <a:t> bao quát các bài toán có cấu trúc hình lòng chảo.</a:t>
            </a:r>
            <a:endParaRPr lang="en-US" dirty="0"/>
          </a:p>
          <a:p>
            <a:r>
              <a:rPr lang="en-US" dirty="0"/>
              <a:t>SDP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ma </a:t>
            </a:r>
            <a:r>
              <a:rPr lang="en-US" dirty="0" err="1"/>
              <a:t>trận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đẳng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ma </a:t>
            </a:r>
            <a:r>
              <a:rPr lang="en-US" dirty="0" err="1"/>
              <a:t>trận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(LMI).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944D13-9B3C-005B-67A0-17F833064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6" y="1323263"/>
            <a:ext cx="4158215" cy="29128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8488AF-261C-7126-AE35-BA3ED04B0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571" y="1323263"/>
            <a:ext cx="4027600" cy="305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373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7487D-5D9D-48AF-5C37-F7AFEB7A3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880565-C205-7829-7B8F-81084E48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6DDAE0-8C87-7BA6-6048-9151DACF1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37" y="106605"/>
            <a:ext cx="8673846" cy="451739"/>
          </a:xfrm>
        </p:spPr>
        <p:txBody>
          <a:bodyPr/>
          <a:lstStyle/>
          <a:p>
            <a:r>
              <a:rPr lang="en-US" dirty="0"/>
              <a:t>9.2 Positive Semi-definite - PSD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A1922A9-92AF-2F3F-2258-A3DF65AD692C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dirty="0" err="1"/>
                  <a:t>Lập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bán</a:t>
                </a:r>
                <a:r>
                  <a:rPr lang="en-US" dirty="0"/>
                  <a:t> </a:t>
                </a:r>
                <a:r>
                  <a:rPr lang="en-US" dirty="0" err="1"/>
                  <a:t>xác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 SPD </a:t>
                </a:r>
              </a:p>
              <a:p>
                <a:r>
                  <a:rPr lang="en-US" dirty="0" err="1"/>
                  <a:t>Tìm</a:t>
                </a:r>
                <a:r>
                  <a:rPr lang="en-US" dirty="0"/>
                  <a:t> </a:t>
                </a:r>
                <a:r>
                  <a:rPr lang="en-US" dirty="0" err="1"/>
                  <a:t>hàm</a:t>
                </a:r>
                <a:r>
                  <a:rPr lang="en-US" dirty="0"/>
                  <a:t> Lyapunov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tuyến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𝐀𝐱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ta </a:t>
                </a:r>
                <a:r>
                  <a:rPr lang="en-US" dirty="0" err="1"/>
                  <a:t>biến</a:t>
                </a:r>
                <a:r>
                  <a:rPr lang="en-US" dirty="0"/>
                  <a:t> </a:t>
                </a:r>
                <a:r>
                  <a:rPr lang="en-US" dirty="0" err="1"/>
                  <a:t>bài</a:t>
                </a:r>
                <a:r>
                  <a:rPr lang="en-US" dirty="0"/>
                  <a:t> </a:t>
                </a:r>
                <a:r>
                  <a:rPr lang="en-US" dirty="0" err="1"/>
                  <a:t>toán</a:t>
                </a:r>
                <a:r>
                  <a:rPr lang="en-US" dirty="0"/>
                  <a:t> </a:t>
                </a:r>
                <a:r>
                  <a:rPr lang="en-US" dirty="0" err="1"/>
                  <a:t>tìm</a:t>
                </a:r>
                <a:r>
                  <a:rPr lang="en-US" dirty="0"/>
                  <a:t> ma </a:t>
                </a:r>
                <a:r>
                  <a:rPr lang="en-US" dirty="0" err="1"/>
                  <a:t>trận</a:t>
                </a:r>
                <a:r>
                  <a:rPr lang="en-US" dirty="0"/>
                  <a:t> P (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xây</a:t>
                </a:r>
                <a:r>
                  <a:rPr lang="en-US" dirty="0"/>
                  <a:t> </a:t>
                </a:r>
                <a:r>
                  <a:rPr lang="en-US" dirty="0" err="1"/>
                  <a:t>dựng</a:t>
                </a:r>
                <a:r>
                  <a:rPr lang="en-US" dirty="0"/>
                  <a:t> </a:t>
                </a:r>
                <a:r>
                  <a:rPr lang="en-US" dirty="0" err="1"/>
                  <a:t>hàm</a:t>
                </a:r>
                <a:r>
                  <a:rPr lang="en-US" dirty="0"/>
                  <a:t> Lyapunov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) </a:t>
                </a:r>
                <a:r>
                  <a:rPr lang="vi-VN" dirty="0"/>
                  <a:t>thành một bài toán tối ưu hóa với các ràng buộc ma trận.</a:t>
                </a:r>
                <a:endParaRPr lang="en-US" dirty="0"/>
              </a:p>
              <a:p>
                <a:r>
                  <a:rPr lang="vi-VN" dirty="0"/>
                  <a:t>Trong lý thuyết Lyapunov, để một hệ thống ổn định, ta cần tìm một hàm năng lượng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𝑃𝑥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-</a:t>
                </a:r>
                <a:r>
                  <a:rPr lang="vi-VN" dirty="0"/>
                  <a:t>Năng lượng luôn dương (P xác định dương).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-</a:t>
                </a:r>
                <a:r>
                  <a:rPr lang="vi-VN" dirty="0"/>
                  <a:t>Năng lượng luôn giảm theo thời gian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vi-VN" dirty="0"/>
                  <a:t>xác định âm).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A1922A9-92AF-2F3F-2258-A3DF65AD69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477" t="-1954" r="-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3894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44870-519F-14E6-E56F-7F2CC798C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5910FB-77DE-7F29-D9C3-2F3C1C86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3CB70A-FC96-4BF5-9034-50DB59D20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37" y="106605"/>
            <a:ext cx="8673846" cy="451739"/>
          </a:xfrm>
        </p:spPr>
        <p:txBody>
          <a:bodyPr/>
          <a:lstStyle/>
          <a:p>
            <a:r>
              <a:rPr lang="en-US" dirty="0"/>
              <a:t>9.2 Positive Semi-definite - PSD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7FFD0D4-16AC-BEE8-1D5A-E4F4DF06A2DC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Example 9.6</a:t>
                </a:r>
              </a:p>
              <a:p>
                <a:r>
                  <a:rPr lang="en-US" dirty="0" err="1"/>
                  <a:t>Mô</a:t>
                </a:r>
                <a:r>
                  <a:rPr lang="en-US" dirty="0"/>
                  <a:t> </a:t>
                </a:r>
                <a:r>
                  <a:rPr lang="en-US" dirty="0" err="1"/>
                  <a:t>hình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thống</a:t>
                </a:r>
                <a:r>
                  <a:rPr lang="en-US" dirty="0"/>
                  <a:t>: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𝐀𝐱</m:t>
                    </m:r>
                  </m:oMath>
                </a14:m>
                <a:endParaRPr lang="en-US" dirty="0"/>
              </a:p>
              <a:p>
                <a:r>
                  <a:rPr lang="vi-VN" dirty="0"/>
                  <a:t>Ma trận A không cố định (chưa biết giá trị chính xác) nhưng nằm trong một giới hạn nhất định.</a:t>
                </a:r>
                <a:endParaRPr lang="en-US" dirty="0"/>
              </a:p>
              <a:p>
                <a:r>
                  <a:rPr lang="en-US" dirty="0" err="1"/>
                  <a:t>Mô</a:t>
                </a:r>
                <a:r>
                  <a:rPr lang="en-US" dirty="0"/>
                  <a:t> </a:t>
                </a:r>
                <a:r>
                  <a:rPr lang="en-US" dirty="0" err="1"/>
                  <a:t>tả</a:t>
                </a:r>
                <a:r>
                  <a:rPr lang="en-US" dirty="0"/>
                  <a:t> </a:t>
                </a:r>
                <a:r>
                  <a:rPr lang="en-US" dirty="0" err="1"/>
                  <a:t>hình</a:t>
                </a:r>
                <a:r>
                  <a:rPr lang="en-US" dirty="0"/>
                  <a:t> </a:t>
                </a:r>
                <a:r>
                  <a:rPr lang="en-US" dirty="0" err="1"/>
                  <a:t>học</a:t>
                </a:r>
                <a:r>
                  <a:rPr lang="en-US" dirty="0"/>
                  <a:t>: Ma </a:t>
                </a:r>
                <a:r>
                  <a:rPr lang="en-US" dirty="0" err="1"/>
                  <a:t>trận</a:t>
                </a:r>
                <a:r>
                  <a:rPr lang="en-US" dirty="0"/>
                  <a:t> A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tổ</a:t>
                </a:r>
                <a:r>
                  <a:rPr lang="en-US" dirty="0"/>
                  <a:t> </a:t>
                </a:r>
                <a:r>
                  <a:rPr lang="en-US" dirty="0" err="1"/>
                  <a:t>hợp</a:t>
                </a:r>
                <a:r>
                  <a:rPr lang="en-US" dirty="0"/>
                  <a:t> </a:t>
                </a:r>
                <a:r>
                  <a:rPr lang="en-US" dirty="0" err="1"/>
                  <a:t>lồi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ma </a:t>
                </a:r>
                <a:r>
                  <a:rPr lang="en-US" dirty="0" err="1"/>
                  <a:t>trận</a:t>
                </a:r>
                <a:r>
                  <a:rPr lang="en-US" dirty="0"/>
                  <a:t> </a:t>
                </a:r>
                <a:r>
                  <a:rPr lang="en-US" dirty="0" err="1"/>
                  <a:t>đỉnh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𝐀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𝐢</m:t>
                            </m:r>
                          </m:sub>
                        </m:sSub>
                      </m:e>
                    </m:nary>
                    <m:r>
                      <a:rPr lang="en-US" i="1" smtClean="0">
                        <a:latin typeface="Cambria Math" panose="02040503050406030204" pitchFamily="18" charset="0"/>
                      </a:rPr>
                      <m:t>, 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i="1" smtClean="0">
                        <a:latin typeface="Cambria Math" panose="02040503050406030204" pitchFamily="18" charset="0"/>
                      </a:rPr>
                      <m:t>=1, 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Ma </a:t>
                </a:r>
                <a:r>
                  <a:rPr lang="en-US" dirty="0" err="1"/>
                  <a:t>trận</a:t>
                </a:r>
                <a:r>
                  <a:rPr lang="en-US" dirty="0"/>
                  <a:t> </a:t>
                </a:r>
                <a:r>
                  <a:rPr lang="en-US" dirty="0" err="1"/>
                  <a:t>thực</a:t>
                </a:r>
                <a:r>
                  <a:rPr lang="en-US" dirty="0"/>
                  <a:t> </a:t>
                </a:r>
                <a:r>
                  <a:rPr lang="en-US" dirty="0" err="1"/>
                  <a:t>tế</a:t>
                </a:r>
                <a:r>
                  <a:rPr lang="en-US" dirty="0"/>
                  <a:t> 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 err="1"/>
                  <a:t>kỳ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:r>
                  <a:rPr lang="en-US" dirty="0" err="1"/>
                  <a:t>nào</a:t>
                </a:r>
                <a:r>
                  <a:rPr lang="en-US" dirty="0"/>
                  <a:t> </a:t>
                </a:r>
                <a:r>
                  <a:rPr lang="en-US" dirty="0" err="1"/>
                  <a:t>nằm</a:t>
                </a:r>
                <a:r>
                  <a:rPr lang="en-US" dirty="0"/>
                  <a:t> </a:t>
                </a:r>
                <a:r>
                  <a:rPr lang="en-US" dirty="0" err="1"/>
                  <a:t>bên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đa</a:t>
                </a:r>
                <a:r>
                  <a:rPr lang="en-US" dirty="0"/>
                  <a:t> </a:t>
                </a:r>
                <a:r>
                  <a:rPr lang="en-US" dirty="0" err="1"/>
                  <a:t>giác</a:t>
                </a: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7FFD0D4-16AC-BEE8-1D5A-E4F4DF06A2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477" t="-1954" r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433743E-DBF9-E4A0-0315-2E4C81855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813" y="3429000"/>
            <a:ext cx="3115110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83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5287F-4B07-1FCA-99F2-3B7B6F42E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13FCC0-2A37-50BD-70B3-230AE37DE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01DC94-FA40-A2F3-F377-3B55A0690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37" y="106605"/>
            <a:ext cx="8673846" cy="451739"/>
          </a:xfrm>
        </p:spPr>
        <p:txBody>
          <a:bodyPr/>
          <a:lstStyle/>
          <a:p>
            <a:r>
              <a:rPr lang="en-US" dirty="0"/>
              <a:t>9.2.1 </a:t>
            </a:r>
            <a:r>
              <a:rPr lang="en-US" cap="small" dirty="0"/>
              <a:t>Lyner systems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740763F-B7AC-F855-EB72-348A94F146E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sz="2400" dirty="0"/>
                  <a:t>Công </a:t>
                </a:r>
                <a:r>
                  <a:rPr lang="en-US" sz="2400" dirty="0" err="1"/>
                  <a:t>thức</a:t>
                </a:r>
                <a:r>
                  <a:rPr lang="en-US" sz="2400" dirty="0"/>
                  <a:t> SDP (</a:t>
                </a:r>
                <a:r>
                  <a:rPr lang="en-US" sz="2400" dirty="0" err="1"/>
                  <a:t>Lập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trình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bán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xác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định</a:t>
                </a:r>
                <a:r>
                  <a:rPr lang="en-US" sz="2400" dirty="0"/>
                  <a:t>):</a:t>
                </a:r>
              </a:p>
              <a:p>
                <a:r>
                  <a:rPr lang="en-US" sz="2400" dirty="0" err="1"/>
                  <a:t>Tìm</a:t>
                </a:r>
                <a:r>
                  <a:rPr lang="en-US" sz="2400" dirty="0"/>
                  <a:t> ma </a:t>
                </a:r>
                <a:r>
                  <a:rPr lang="en-US" sz="2400" dirty="0" err="1"/>
                  <a:t>trận</a:t>
                </a:r>
                <a:r>
                  <a:rPr lang="en-US" sz="2400" dirty="0"/>
                  <a:t> P,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≽0, ∀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𝐏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b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  <m:sub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  <m:sup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𝐓</m:t>
                          </m:r>
                        </m:sup>
                      </m:sSubSup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≼0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Launch in gg </a:t>
                </a:r>
                <a:r>
                  <a:rPr lang="en-US" sz="2400" dirty="0" err="1"/>
                  <a:t>colab</a:t>
                </a:r>
                <a:r>
                  <a:rPr lang="en-US" sz="2400" dirty="0"/>
                  <a:t>: https://colab.research.google.com/drive/1Fynyb_ZhSBBvVZS5K_5mC51Q5vYe1aea#scrollTo=oAflLi0ahBdk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740763F-B7AC-F855-EB72-348A94F146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125" t="-1609" r="-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2931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DC101-E063-E458-01A8-D91BD391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3A4177-4C65-8968-6D83-6840105AA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CD3688-F6EA-EB15-A0D8-2EC58E1AE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37" y="106605"/>
            <a:ext cx="8673846" cy="451739"/>
          </a:xfrm>
        </p:spPr>
        <p:txBody>
          <a:bodyPr/>
          <a:lstStyle/>
          <a:p>
            <a:r>
              <a:rPr lang="en-US" dirty="0"/>
              <a:t>9.2.2 Global analysis for polynomial systems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EC2293E-3E52-A41A-5D63-6B2A9B16D80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sz="2400" dirty="0" err="1"/>
                  <a:t>Tối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ưu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hóa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tổng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bình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phương</a:t>
                </a:r>
                <a:r>
                  <a:rPr lang="en-US" sz="2400" dirty="0"/>
                  <a:t> (SOS)</a:t>
                </a:r>
              </a:p>
              <a:p>
                <a:r>
                  <a:rPr lang="vi-VN" sz="2400" dirty="0"/>
                  <a:t>SDP tìm ma trận P sao cho hàm Lyapunov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i="0" smtClean="0"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sz="240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m:rPr>
                        <m:sty m:val="p"/>
                      </m:rPr>
                      <a:rPr lang="en-US" sz="2400" i="0" smtClean="0">
                        <a:latin typeface="Cambria Math" panose="02040503050406030204" pitchFamily="18" charset="0"/>
                      </a:rPr>
                      <m:t>Px</m:t>
                    </m:r>
                  </m:oMath>
                </a14:m>
                <a:endParaRPr lang="en-US" sz="2400" dirty="0"/>
              </a:p>
              <a:p>
                <a:r>
                  <a:rPr lang="en-US" sz="2400" dirty="0" err="1"/>
                  <a:t>Ràng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buộc</a:t>
                </a:r>
                <a:r>
                  <a:rPr lang="en-US" sz="2400" dirty="0"/>
                  <a:t>: ma </a:t>
                </a:r>
                <a:r>
                  <a:rPr lang="en-US" sz="2400" dirty="0" err="1"/>
                  <a:t>trận</a:t>
                </a:r>
                <a:r>
                  <a:rPr lang="en-US" sz="2400" dirty="0"/>
                  <a:t> P </a:t>
                </a:r>
                <a:r>
                  <a:rPr lang="en-US" sz="2400" dirty="0" err="1"/>
                  <a:t>phải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xác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định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dương</a:t>
                </a:r>
                <a:endParaRPr lang="en-US" sz="2400" dirty="0"/>
              </a:p>
              <a:p>
                <a:r>
                  <a:rPr lang="en-US" sz="2400" i="1" dirty="0"/>
                  <a:t>Tuy </a:t>
                </a:r>
                <a:r>
                  <a:rPr lang="en-US" sz="2400" i="1" dirty="0" err="1"/>
                  <a:t>Nhiên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với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hệ</a:t>
                </a:r>
                <a:r>
                  <a:rPr lang="en-US" sz="2400" i="1" dirty="0"/>
                  <a:t> phi </a:t>
                </a:r>
                <a:r>
                  <a:rPr lang="en-US" sz="2400" i="1" dirty="0" err="1"/>
                  <a:t>tuyến</a:t>
                </a:r>
                <a:r>
                  <a:rPr lang="en-US" sz="2400" i="1" dirty="0"/>
                  <a:t> ( con </a:t>
                </a:r>
                <a:r>
                  <a:rPr lang="en-US" sz="2400" i="1" dirty="0" err="1"/>
                  <a:t>lắc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ngược</a:t>
                </a:r>
                <a:r>
                  <a:rPr lang="en-US" sz="2400" i="1" dirty="0"/>
                  <a:t> ) </a:t>
                </a:r>
                <a:r>
                  <a:rPr lang="en-US" sz="2400" i="1" dirty="0" err="1"/>
                  <a:t>hàm</a:t>
                </a:r>
                <a:r>
                  <a:rPr lang="en-US" sz="2400" i="1" dirty="0"/>
                  <a:t> V(x) </a:t>
                </a:r>
                <a:r>
                  <a:rPr lang="en-US" sz="2400" i="1" dirty="0" err="1"/>
                  <a:t>là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một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đa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thức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phức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tạp</a:t>
                </a:r>
                <a:r>
                  <a:rPr lang="en-US" sz="2400" i="1" dirty="0"/>
                  <a:t> </a:t>
                </a:r>
              </a:p>
              <a:p>
                <a:pPr marL="0" indent="0">
                  <a:buNone/>
                </a:pPr>
                <a:r>
                  <a:rPr lang="en-US" sz="2400" b="1" dirty="0" err="1"/>
                  <a:t>Giải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pháp</a:t>
                </a:r>
                <a:r>
                  <a:rPr lang="en-US" sz="2400" b="1" dirty="0"/>
                  <a:t> (SOS):</a:t>
                </a:r>
                <a:r>
                  <a:rPr lang="en-US" sz="2400" dirty="0"/>
                  <a:t> Thay </a:t>
                </a:r>
                <a:r>
                  <a:rPr lang="en-US" sz="2400" dirty="0" err="1"/>
                  <a:t>vì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bắt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≥0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 sz="2400" i="1" dirty="0"/>
                  <a:t> ta bắt p(x) phải viết được dưới dạng tổng của các bình phương:</a:t>
                </a:r>
                <a:endParaRPr lang="en-US" sz="24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Sup>
                            <m:sSub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400" i="1" dirty="0"/>
              </a:p>
              <a:p>
                <a:pPr marL="0" indent="0">
                  <a:buNone/>
                </a:pPr>
                <a:r>
                  <a:rPr lang="vi-VN" sz="2400" dirty="0"/>
                  <a:t>Nếu một hàm là tổng của các bình phương, hiển nhiên sẽ luôn không âm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EC2293E-3E52-A41A-5D63-6B2A9B16D8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125" t="-1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2764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AAA5A-1629-EE78-4A70-00540E8E1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A020CC-96B4-75F5-C880-65F9336FA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F876EB-9F23-5B63-0AD9-D85F90DD2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37" y="106605"/>
            <a:ext cx="8673846" cy="451739"/>
          </a:xfrm>
        </p:spPr>
        <p:txBody>
          <a:bodyPr/>
          <a:lstStyle/>
          <a:p>
            <a:r>
              <a:rPr lang="en-US" dirty="0"/>
              <a:t>9.2.2 Global analysis for polynomial systems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88F2A53-3860-9E24-7344-20840CEF789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sz="2400" dirty="0"/>
                  <a:t>Mối </a:t>
                </a:r>
                <a:r>
                  <a:rPr lang="en-US" sz="2400" dirty="0" err="1"/>
                  <a:t>liên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hệ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giữa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thức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Đạo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hàm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i="1" dirty="0"/>
                  <a:t> </a:t>
                </a:r>
                <a:r>
                  <a:rPr lang="en-US" sz="2400" i="1" dirty="0" err="1"/>
                  <a:t>Nếu</a:t>
                </a:r>
                <a:r>
                  <a:rPr lang="en-US" sz="2400" i="1" dirty="0"/>
                  <a:t> V(x) </a:t>
                </a:r>
                <a:r>
                  <a:rPr lang="en-US" sz="2400" i="1" dirty="0" err="1"/>
                  <a:t>là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đa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thức</a:t>
                </a:r>
                <a:r>
                  <a:rPr lang="en-US" sz="2400" i="1" dirty="0"/>
                  <a:t>, </a:t>
                </a:r>
                <a:r>
                  <a:rPr lang="en-US" sz="2400" i="1" dirty="0" err="1"/>
                  <a:t>và</a:t>
                </a:r>
                <a:r>
                  <a:rPr lang="en-US" sz="2400" i="1" dirty="0"/>
                  <a:t> f(x) </a:t>
                </a:r>
                <a:r>
                  <a:rPr lang="en-US" sz="2400" i="1" dirty="0" err="1"/>
                  <a:t>là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đa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thức</a:t>
                </a:r>
                <a:endParaRPr lang="en-US" sz="2400" i="1" dirty="0"/>
              </a:p>
              <a:p>
                <a:pPr marL="0" indent="0">
                  <a:buNone/>
                </a:pPr>
                <a:r>
                  <a:rPr lang="en-US" sz="2400" i="1" dirty="0"/>
                  <a:t> =&gt;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40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i="1" dirty="0"/>
                  <a:t> </a:t>
                </a:r>
                <a:r>
                  <a:rPr lang="en-US" sz="2400" i="1" dirty="0" err="1"/>
                  <a:t>cũng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là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đa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thức</a:t>
                </a:r>
                <a:endParaRPr lang="en-US" sz="2400" i="1" dirty="0"/>
              </a:p>
              <a:p>
                <a:pPr marL="0" indent="0">
                  <a:buNone/>
                </a:pPr>
                <a:r>
                  <a:rPr lang="en-US" sz="2400" i="1" dirty="0"/>
                  <a:t> </a:t>
                </a:r>
                <a:r>
                  <a:rPr lang="en-US" sz="2400" dirty="0"/>
                  <a:t>ham </a:t>
                </a:r>
                <a:r>
                  <a:rPr lang="en-US" sz="2400" dirty="0" err="1"/>
                  <a:t>số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hóa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hàm</a:t>
                </a:r>
                <a:r>
                  <a:rPr lang="en-US" sz="2400" dirty="0"/>
                  <a:t> Lyapunov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sz="2400" i="1" dirty="0"/>
              </a:p>
              <a:p>
                <a:pPr marL="0" indent="0">
                  <a:buNone/>
                </a:pPr>
                <a:r>
                  <a:rPr lang="en-US" sz="2400" i="1" dirty="0" err="1"/>
                  <a:t>Mục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tiêu</a:t>
                </a:r>
                <a:r>
                  <a:rPr lang="en-US" sz="2400" i="1" dirty="0"/>
                  <a:t>: </a:t>
                </a:r>
                <a:r>
                  <a:rPr lang="en-US" sz="2400" i="1" dirty="0" err="1"/>
                  <a:t>tìm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bộ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số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i="1" dirty="0" err="1"/>
                  <a:t>sao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cho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hàm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này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thỏa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mãn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các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điều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kiện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ổn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định</a:t>
                </a:r>
                <a:r>
                  <a:rPr lang="en-US" sz="2400" i="1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88F2A53-3860-9E24-7344-20840CEF78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125" t="-1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5751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4C6FD-82F6-291F-E82B-D8C73197A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2035F9-EC8C-1F56-AECE-3734B44BE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D8412A-CE7C-7010-AD6C-0890C9F61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37" y="106605"/>
            <a:ext cx="8673846" cy="451739"/>
          </a:xfrm>
        </p:spPr>
        <p:txBody>
          <a:bodyPr/>
          <a:lstStyle/>
          <a:p>
            <a:r>
              <a:rPr lang="en-US" dirty="0"/>
              <a:t>9.2.2 Global analysis for polynomial systems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B030C85-2F9C-96EE-5850-EEABC9395AE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sz="2400" b="1" dirty="0"/>
                  <a:t>Example 9.7:</a:t>
                </a:r>
              </a:p>
              <a:p>
                <a:endParaRPr lang="en-US" sz="2400" b="1" dirty="0"/>
              </a:p>
              <a:p>
                <a:endParaRPr lang="en-US" sz="2400" b="1" dirty="0"/>
              </a:p>
              <a:p>
                <a:endParaRPr lang="en-US" sz="2400" b="1" dirty="0"/>
              </a:p>
              <a:p>
                <a:r>
                  <a:rPr lang="en-US" sz="2400" dirty="0" err="1"/>
                  <a:t>Dễ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dàng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thấy</a:t>
                </a:r>
                <a:r>
                  <a:rPr lang="en-US" sz="2400" dirty="0"/>
                  <a:t> V(x) </a:t>
                </a:r>
                <a:r>
                  <a:rPr lang="en-US" sz="2400" dirty="0" err="1"/>
                  <a:t>luôn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dương</a:t>
                </a:r>
                <a:r>
                  <a:rPr lang="en-US" sz="2400" dirty="0"/>
                  <a:t> </a:t>
                </a:r>
              </a:p>
              <a:p>
                <a:r>
                  <a:rPr lang="en-US" sz="2400" dirty="0" err="1"/>
                  <a:t>Tính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acc>
                      <m:accPr>
                        <m:chr m:val="̇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acc>
                      <m:accPr>
                        <m:chr m:val="̇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US" sz="240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acc>
                      <m:accPr>
                        <m:chr m:val="̇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sSubSup>
                          <m:sSub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+4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sSubSup>
                          <m:sSub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e>
                    </m:d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=−2</m:t>
                    </m:r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bSup>
                    <m:r>
                      <a:rPr lang="en-US" sz="24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−4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bSup>
                    <m:r>
                      <a:rPr lang="en-US" sz="24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−4</m:t>
                    </m:r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bSup>
                    <m:r>
                      <a:rPr lang="en-US" sz="24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−4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bSup>
                    <m:r>
                      <a:rPr lang="en-US" sz="240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−8</m:t>
                    </m:r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</m:sup>
                    </m:sSubSup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=−2</m:t>
                    </m:r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i="1" smtClean="0">
                        <a:latin typeface="Cambria Math" panose="02040503050406030204" pitchFamily="18" charset="0"/>
                      </a:rPr>
                      <m:t>−8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i="1" smtClean="0">
                        <a:latin typeface="Cambria Math" panose="02040503050406030204" pitchFamily="18" charset="0"/>
                      </a:rPr>
                      <m:t>−4</m:t>
                    </m:r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i="1" smtClean="0">
                        <a:latin typeface="Cambria Math" panose="02040503050406030204" pitchFamily="18" charset="0"/>
                      </a:rPr>
                      <m:t>−8</m:t>
                    </m:r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:endParaRPr lang="en-US" sz="2400" i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B030C85-2F9C-96EE-5850-EEABC9395A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985" t="-1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322B9D9-02D1-88B7-2180-C588B0678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59" y="1425464"/>
            <a:ext cx="7799478" cy="121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067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26297-A595-AABF-B090-F329EF4E0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5F2C70-F41F-96A6-0D24-5532305B5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C505FF-9830-2E3E-0C33-670F66D0A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37" y="106605"/>
            <a:ext cx="8673846" cy="451739"/>
          </a:xfrm>
        </p:spPr>
        <p:txBody>
          <a:bodyPr/>
          <a:lstStyle/>
          <a:p>
            <a:r>
              <a:rPr lang="en-US" dirty="0"/>
              <a:t>9.2.2 Global analysis for polynomial systems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1768034-7B33-E346-0B5F-20724C990AB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vi-VN" sz="2400" dirty="0"/>
                  <a:t>Viết dưới dạng SOS để chứng minh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sz="2400" i="1" dirty="0"/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̇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=2</m:t>
                    </m:r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i="1" smtClean="0">
                        <a:latin typeface="Cambria Math" panose="02040503050406030204" pitchFamily="18" charset="0"/>
                      </a:rPr>
                      <m:t>+4</m:t>
                    </m:r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i="1" smtClean="0">
                        <a:latin typeface="Cambria Math" panose="02040503050406030204" pitchFamily="18" charset="0"/>
                      </a:rPr>
                      <m:t>+8</m:t>
                    </m:r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endParaRPr lang="en-US" sz="2400" i="1" dirty="0"/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̇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+4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+4</m:t>
                        </m:r>
                        <m:sSubSup>
                          <m:sSub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+4</m:t>
                    </m:r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400" i="1" dirty="0"/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̇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+2</m:t>
                            </m:r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+4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i="1" dirty="0"/>
                  <a:t> (SOS)</a:t>
                </a:r>
              </a:p>
              <a:p>
                <a:r>
                  <a:rPr lang="en-US" sz="2400" dirty="0" err="1"/>
                  <a:t>trình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bày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dạng</a:t>
                </a:r>
                <a:r>
                  <a:rPr lang="en-US" sz="2400" dirty="0"/>
                  <a:t> SOS </a:t>
                </a:r>
                <a:r>
                  <a:rPr lang="en-US" sz="2400" dirty="0" err="1"/>
                  <a:t>tổng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quát</a:t>
                </a:r>
                <a:r>
                  <a:rPr lang="en-US" sz="2400" dirty="0"/>
                  <a:t>:</a:t>
                </a:r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𝐓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𝐦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h𝑡𝑡𝑝𝑠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://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𝑐𝑜𝑙𝑎𝑏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𝑟𝑒𝑠𝑒𝑎𝑟𝑐h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𝑔𝑜𝑜𝑔𝑙𝑒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𝑐𝑜𝑚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𝑑𝑟𝑖𝑣𝑒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/1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𝑊𝑗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𝑋𝑟𝑂𝐻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𝑆𝑧𝑆𝑏𝐿𝐻𝑊𝐿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𝐶𝑟𝑃𝑗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𝑉𝑌𝑅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#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𝑠𝑐𝑟𝑜𝑙𝑙𝑇𝑜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𝑝𝐿𝐵𝑥𝑀𝑓𝑐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𝐿𝐵𝑈𝑠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i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1768034-7B33-E346-0B5F-20724C990A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985" t="-1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6735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DCDB7-273A-DE22-B362-A2816FB81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A097B0-BCA8-27FD-FA23-826471E93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573BD4-C85D-C66E-945D-689351F83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37" y="106605"/>
            <a:ext cx="8673846" cy="451739"/>
          </a:xfrm>
        </p:spPr>
        <p:txBody>
          <a:bodyPr/>
          <a:lstStyle/>
          <a:p>
            <a:r>
              <a:rPr lang="en-US" dirty="0"/>
              <a:t>9.2.2 Global analysis for polynomial systems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8CA322-3284-D7C5-3591-8938E4AFC32D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sz="2400" i="1" dirty="0"/>
                  <a:t>Example 9.8</a:t>
                </a:r>
              </a:p>
              <a:p>
                <a:r>
                  <a:rPr lang="en-US" sz="2400" i="1" dirty="0"/>
                  <a:t>Tham </a:t>
                </a:r>
                <a:r>
                  <a:rPr lang="en-US" sz="2400" i="1" dirty="0" err="1"/>
                  <a:t>số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hóa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hàm</a:t>
                </a:r>
                <a:r>
                  <a:rPr lang="en-US" sz="2400" i="1" dirty="0"/>
                  <a:t> Lyapunov V(x)</a:t>
                </a: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400" i="1" dirty="0"/>
              </a:p>
              <a:p>
                <a:r>
                  <a:rPr lang="en-US" sz="2400" i="1" dirty="0" err="1"/>
                  <a:t>Thiết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lập</a:t>
                </a:r>
                <a:r>
                  <a:rPr lang="en-US" sz="2400" i="1" dirty="0"/>
                  <a:t> rang </a:t>
                </a:r>
                <a:r>
                  <a:rPr lang="en-US" sz="2400" i="1" dirty="0" err="1"/>
                  <a:t>buộc</a:t>
                </a:r>
                <a:r>
                  <a:rPr lang="en-US" sz="2400" i="1" dirty="0"/>
                  <a:t> :</a:t>
                </a:r>
              </a:p>
              <a:p>
                <a:r>
                  <a:rPr lang="en-US" sz="2400" i="1" dirty="0" err="1"/>
                  <a:t>Tránh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máy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tính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tim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ra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nghiệm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tầm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thường</a:t>
                </a:r>
                <a:r>
                  <a:rPr lang="en-US" sz="2400" i="1" dirty="0"/>
                  <a:t> V(x)=0</a:t>
                </a:r>
              </a:p>
              <a:p>
                <a:pPr>
                  <a:buFontTx/>
                  <a:buChar char="-"/>
                </a:pPr>
                <a:r>
                  <a:rPr lang="vi-VN" sz="2400" i="1" dirty="0"/>
                  <a:t>V(0) = 0: buộc c</a:t>
                </a:r>
                <a:r>
                  <a:rPr lang="vi-VN" sz="1400" i="1" dirty="0"/>
                  <a:t>0</a:t>
                </a:r>
                <a:r>
                  <a:rPr lang="vi-VN" sz="2400" i="1" dirty="0"/>
                  <a:t> = 0 (vì tại gốc tọa độ, năng lượng phải bằng 0).</a:t>
                </a:r>
                <a:endParaRPr lang="en-US" sz="2400" i="1" dirty="0"/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1,0</m:t>
                            </m:r>
                          </m:e>
                        </m:d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i="1" dirty="0"/>
                  <a:t>: </a:t>
                </a:r>
                <a:r>
                  <a:rPr lang="en-US" sz="2400" i="1" dirty="0" err="1"/>
                  <a:t>chuẩn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hóa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để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cố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định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độ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lớn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các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hệ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số</a:t>
                </a:r>
                <a:endParaRPr lang="en-US" sz="2400" i="1" dirty="0"/>
              </a:p>
              <a:p>
                <a:pPr marL="0" indent="0">
                  <a:buNone/>
                </a:pPr>
                <a:r>
                  <a:rPr lang="en-US" sz="2400" i="1" dirty="0"/>
                  <a:t>ℎ𝑡𝑡𝑝𝑠://𝑐𝑜𝑙𝑎𝑏.𝑟𝑒𝑠𝑒𝑎𝑟𝑐ℎ.𝑔𝑜𝑜𝑔𝑙𝑒.𝑐𝑜𝑚/𝑑𝑟𝑖𝑣𝑒/1𝑦_𝑄2𝑊𝑗0𝑋𝑟𝑂𝐻2𝑆𝑧𝑆𝑏𝐿𝐻𝑊𝐿6𝑅𝑃3𝐶𝑟𝑃𝑗-𝑉𝑌𝑅#𝑠𝑐𝑟𝑜𝑙𝑙𝑇𝑜=𝑝𝐿𝐵𝑥𝑀𝑓𝑐4𝐿𝐵𝑈𝑠</a:t>
                </a:r>
              </a:p>
              <a:p>
                <a:pPr marL="0" indent="0">
                  <a:buNone/>
                </a:pPr>
                <a:endParaRPr lang="en-US" sz="2400" i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8CA322-3284-D7C5-3591-8938E4AFC3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125" t="-1609" r="-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2876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9F02D-CD62-86BD-95E7-A9DA6EFAA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9960A2-A971-04E1-E7F7-1F9E799AA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B05826-2FC3-8F85-1A05-06255F758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37" y="106605"/>
            <a:ext cx="8673846" cy="451739"/>
          </a:xfrm>
        </p:spPr>
        <p:txBody>
          <a:bodyPr/>
          <a:lstStyle/>
          <a:p>
            <a:r>
              <a:rPr lang="en-US" dirty="0"/>
              <a:t>9.2.2 Global analysis for polynomial systems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C307D4F-4019-E5F4-0C36-F77C2D4EDC29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sz="2400" i="1" dirty="0"/>
                  <a:t>Example 9.9 </a:t>
                </a:r>
              </a:p>
              <a:p>
                <a:r>
                  <a:rPr lang="vi-VN" sz="2400" i="1" dirty="0"/>
                  <a:t>Hệ thống con lắc trên xe (Cart-pole)</a:t>
                </a:r>
                <a:endParaRPr lang="en-US" sz="2400" i="1" dirty="0"/>
              </a:p>
              <a:p>
                <a:r>
                  <a:rPr lang="vi-VN" sz="2400" i="1" dirty="0"/>
                  <a:t>Hàm Lyapunov dựa trên năng lượng:</a:t>
                </a:r>
                <a:endParaRPr lang="en-US" sz="2400" i="1" dirty="0"/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̃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acc>
                              <m:accPr>
                                <m:chr m:val="̇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acc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i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i="1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̇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sz="2400" i="1" dirty="0"/>
                  <a:t>: </a:t>
                </a:r>
                <a:r>
                  <a:rPr lang="vi-VN" sz="2400" dirty="0"/>
                  <a:t>Động năng (giả sử khối lượng và chiều dài bằng đơn vị).</a:t>
                </a:r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i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sz="2400" i="1" dirty="0"/>
                  <a:t>: </a:t>
                </a:r>
                <a:r>
                  <a:rPr lang="en-US" sz="2400" i="1" dirty="0" err="1"/>
                  <a:t>Thế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năng</a:t>
                </a:r>
                <a:r>
                  <a:rPr lang="en-US" sz="2400" i="1" dirty="0"/>
                  <a:t> </a:t>
                </a:r>
              </a:p>
              <a:p>
                <a:endParaRPr lang="en-US" sz="2400" i="1" dirty="0"/>
              </a:p>
              <a:p>
                <a:r>
                  <a:rPr lang="vi-VN" sz="2400" i="1" dirty="0"/>
                  <a:t>Thuật toán SOS trong đoạn code trước đó chỉ hiểu các đa thức như x</a:t>
                </a:r>
                <a:r>
                  <a:rPr lang="vi-VN" sz="2400" i="1" baseline="30000" dirty="0"/>
                  <a:t>2</a:t>
                </a:r>
                <a:r>
                  <a:rPr lang="vi-VN" sz="2400" i="1" dirty="0"/>
                  <a:t>, x</a:t>
                </a:r>
                <a:r>
                  <a:rPr lang="vi-VN" sz="2400" i="1" baseline="30000" dirty="0"/>
                  <a:t>3</a:t>
                </a:r>
                <a:r>
                  <a:rPr lang="vi-VN" sz="2400" i="1" dirty="0"/>
                  <a:t>. Nhưng Cart-pole lại có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sz="2400" i="1" dirty="0"/>
              </a:p>
              <a:p>
                <a:r>
                  <a:rPr lang="en-US" sz="2400" i="1" dirty="0" err="1"/>
                  <a:t>Mở</a:t>
                </a:r>
                <a:r>
                  <a:rPr lang="en-US" sz="2400" i="1" dirty="0"/>
                  <a:t> </a:t>
                </a:r>
                <a:r>
                  <a:rPr lang="en-US" sz="2400" i="1" dirty="0" err="1"/>
                  <a:t>rộng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𝐦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acc>
                                <m:accPr>
                                  <m:chr m:val="̇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func>
                                <m:func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func>
                                <m:func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̇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func>
                                <m:func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,…</m:t>
                              </m:r>
                            </m:e>
                          </m:d>
                        </m:e>
                        <m:sup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400" i="1" dirty="0"/>
              </a:p>
              <a:p>
                <a:endParaRPr lang="en-US" sz="2400" i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C307D4F-4019-E5F4-0C36-F77C2D4EDC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985" t="-1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B3096FF-EA78-B00F-82AE-CDC9E31F8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775" y="3937291"/>
            <a:ext cx="2305372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718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0E6C1-9194-41AA-0FD5-8D5EBAD28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5FD60-20B2-5D4B-0E19-7A928E588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45710E-4EF3-12CC-8A0E-BD8D5254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37" y="106605"/>
            <a:ext cx="8673846" cy="451739"/>
          </a:xfrm>
        </p:spPr>
        <p:txBody>
          <a:bodyPr/>
          <a:lstStyle/>
          <a:p>
            <a:r>
              <a:rPr lang="en-US" dirty="0"/>
              <a:t>9.2.2 Global analysis for polynomial systems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591B0D-8C46-29BD-FEA4-E44F1853046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791477" y="915464"/>
            <a:ext cx="5234727" cy="53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418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29F0E-C42A-B64C-E4AC-36C0DF2BC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5D4A12-75B9-5672-7BC3-D6C3C9476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55FC9-AEB4-6436-48C7-5DB4BEE30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37" y="106605"/>
            <a:ext cx="8673846" cy="451739"/>
          </a:xfrm>
        </p:spPr>
        <p:txBody>
          <a:bodyPr/>
          <a:lstStyle/>
          <a:p>
            <a:r>
              <a:rPr lang="en-US" dirty="0"/>
              <a:t>9.2.2 Global analysis for polynomial systems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0F5D0-B76F-422C-3F5B-5680A4FD6D3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 i="1" dirty="0"/>
              <a:t>Exercise 9.9 ( </a:t>
            </a:r>
            <a:r>
              <a:rPr lang="en-US" sz="2400" i="1" dirty="0" err="1"/>
              <a:t>đa</a:t>
            </a:r>
            <a:r>
              <a:rPr lang="en-US" sz="2400" i="1" dirty="0"/>
              <a:t> </a:t>
            </a:r>
            <a:r>
              <a:rPr lang="en-US" sz="2400" i="1" dirty="0" err="1"/>
              <a:t>thức</a:t>
            </a:r>
            <a:r>
              <a:rPr lang="en-US" sz="2400" i="1" dirty="0"/>
              <a:t> SOS </a:t>
            </a:r>
            <a:r>
              <a:rPr lang="en-US" sz="2400" i="1" dirty="0" err="1"/>
              <a:t>trong</a:t>
            </a:r>
            <a:r>
              <a:rPr lang="en-US" sz="2400" i="1" dirty="0"/>
              <a:t> </a:t>
            </a:r>
            <a:r>
              <a:rPr lang="en-US" sz="2400" i="1" dirty="0" err="1"/>
              <a:t>phân</a:t>
            </a:r>
            <a:r>
              <a:rPr lang="en-US" sz="2400" i="1" dirty="0"/>
              <a:t> </a:t>
            </a:r>
            <a:r>
              <a:rPr lang="en-US" sz="2400" i="1" dirty="0" err="1"/>
              <a:t>tích</a:t>
            </a:r>
            <a:r>
              <a:rPr lang="en-US" sz="2400" i="1" dirty="0"/>
              <a:t> )</a:t>
            </a:r>
          </a:p>
          <a:p>
            <a:endParaRPr lang="en-US" sz="2400" i="1" dirty="0"/>
          </a:p>
          <a:p>
            <a:endParaRPr lang="en-US" sz="2400" i="1" dirty="0"/>
          </a:p>
          <a:p>
            <a:endParaRPr lang="en-US" sz="2400" i="1" dirty="0"/>
          </a:p>
          <a:p>
            <a:endParaRPr lang="en-US" sz="2400" i="1" dirty="0"/>
          </a:p>
          <a:p>
            <a:endParaRPr lang="en-US" sz="2400" i="1" dirty="0"/>
          </a:p>
          <a:p>
            <a:endParaRPr lang="en-US" sz="2400" i="1" dirty="0"/>
          </a:p>
          <a:p>
            <a:endParaRPr lang="en-US" sz="2400" i="1" dirty="0"/>
          </a:p>
          <a:p>
            <a:pPr marL="0" indent="0">
              <a:buNone/>
            </a:pPr>
            <a:endParaRPr lang="en-US" sz="2400" i="1" dirty="0"/>
          </a:p>
          <a:p>
            <a:endParaRPr lang="en-US" sz="24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A0EAD0-7E01-B779-9535-FCA8AADC3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37" y="1346907"/>
            <a:ext cx="7973538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652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DBBEA-665E-188A-82A1-D7E1EC87A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ED0602-13AB-5CC5-F9E1-6871AB98D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28537F-A9BE-9A41-E908-8A2340E47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937" y="106605"/>
            <a:ext cx="8673846" cy="451739"/>
          </a:xfrm>
        </p:spPr>
        <p:txBody>
          <a:bodyPr/>
          <a:lstStyle/>
          <a:p>
            <a:r>
              <a:rPr lang="en-US" dirty="0"/>
              <a:t>9.2.2 Global analysis for polynomial systems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63F8AE-DC34-B58D-025C-E5F23221DF8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 i="1" dirty="0"/>
              <a:t>b, </a:t>
            </a:r>
            <a:r>
              <a:rPr lang="en-US" sz="2400" i="1" dirty="0" err="1"/>
              <a:t>Nếu</a:t>
            </a:r>
            <a:r>
              <a:rPr lang="en-US" sz="2400" i="1" dirty="0"/>
              <a:t> k </a:t>
            </a:r>
            <a:r>
              <a:rPr lang="en-US" sz="2400" i="1" dirty="0" err="1"/>
              <a:t>có</a:t>
            </a:r>
            <a:r>
              <a:rPr lang="en-US" sz="2400" i="1" dirty="0"/>
              <a:t> </a:t>
            </a:r>
            <a:r>
              <a:rPr lang="en-US" sz="2400" dirty="0" err="1"/>
              <a:t>hàm</a:t>
            </a:r>
            <a:r>
              <a:rPr lang="en-US" sz="2400" dirty="0"/>
              <a:t> Lyapunov SOS, ta </a:t>
            </a:r>
            <a:r>
              <a:rPr lang="en-US" sz="2400" b="1" dirty="0" err="1"/>
              <a:t>không</a:t>
            </a:r>
            <a:r>
              <a:rPr lang="en-US" sz="2400" b="1" dirty="0"/>
              <a:t> </a:t>
            </a:r>
            <a:r>
              <a:rPr lang="en-US" sz="2400" b="1" dirty="0" err="1"/>
              <a:t>thể</a:t>
            </a:r>
            <a:r>
              <a:rPr lang="en-US" sz="2400" b="1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luận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thống</a:t>
            </a:r>
            <a:r>
              <a:rPr lang="en-US" sz="2400" dirty="0"/>
              <a:t> </a:t>
            </a:r>
            <a:r>
              <a:rPr lang="en-US" sz="2400" dirty="0" err="1"/>
              <a:t>đó</a:t>
            </a:r>
            <a:r>
              <a:rPr lang="en-US" sz="2400" dirty="0"/>
              <a:t> </a:t>
            </a:r>
            <a:r>
              <a:rPr lang="en-US" sz="2400" dirty="0" err="1"/>
              <a:t>mất</a:t>
            </a:r>
            <a:r>
              <a:rPr lang="en-US" sz="2400" dirty="0"/>
              <a:t> </a:t>
            </a:r>
            <a:r>
              <a:rPr lang="en-US" sz="2400" dirty="0" err="1"/>
              <a:t>ổn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.</a:t>
            </a:r>
            <a:endParaRPr lang="en-US" sz="2400" i="1" dirty="0"/>
          </a:p>
          <a:p>
            <a:pPr marL="0" indent="0">
              <a:buNone/>
            </a:pPr>
            <a:r>
              <a:rPr lang="en-US" sz="2400" i="1" dirty="0"/>
              <a:t>-Phương </a:t>
            </a:r>
            <a:r>
              <a:rPr lang="en-US" sz="2400" i="1" dirty="0" err="1"/>
              <a:t>pháp</a:t>
            </a:r>
            <a:r>
              <a:rPr lang="en-US" sz="2400" i="1" dirty="0"/>
              <a:t> SOS </a:t>
            </a:r>
            <a:r>
              <a:rPr lang="en-US" sz="2400" i="1" dirty="0" err="1"/>
              <a:t>chỉ</a:t>
            </a:r>
            <a:r>
              <a:rPr lang="en-US" sz="2400" i="1" dirty="0"/>
              <a:t> </a:t>
            </a:r>
            <a:r>
              <a:rPr lang="en-US" sz="2400" i="1" dirty="0" err="1"/>
              <a:t>là</a:t>
            </a:r>
            <a:r>
              <a:rPr lang="en-US" sz="2400" i="1" dirty="0"/>
              <a:t> 1 </a:t>
            </a:r>
            <a:r>
              <a:rPr lang="en-US" sz="2400" i="1" dirty="0" err="1"/>
              <a:t>điểu</a:t>
            </a:r>
            <a:r>
              <a:rPr lang="en-US" sz="2400" i="1" dirty="0"/>
              <a:t> </a:t>
            </a:r>
            <a:r>
              <a:rPr lang="en-US" sz="2400" i="1" dirty="0" err="1"/>
              <a:t>kiện</a:t>
            </a:r>
            <a:r>
              <a:rPr lang="en-US" sz="2400" i="1" dirty="0"/>
              <a:t> </a:t>
            </a:r>
            <a:r>
              <a:rPr lang="en-US" sz="2400" i="1" dirty="0" err="1"/>
              <a:t>đủ</a:t>
            </a:r>
            <a:r>
              <a:rPr lang="en-US" sz="2400" i="1" dirty="0"/>
              <a:t> </a:t>
            </a:r>
          </a:p>
          <a:p>
            <a:pPr marL="0" indent="0">
              <a:buNone/>
            </a:pPr>
            <a:r>
              <a:rPr lang="en-US" sz="2400" i="1" dirty="0"/>
              <a:t>-</a:t>
            </a:r>
            <a:r>
              <a:rPr lang="vi-VN" sz="2400" dirty="0"/>
              <a:t>Việc không tìm thấy hàm SOS chỉ có nghĩa là: "Công cụ tính toán (SOS program) của chúng ta không tìm được chứng minh bằng bình phương", chứ không có nghĩa là "Không tồn tại hàm Lyapunov nào khác".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/>
              <a:t>-</a:t>
            </a:r>
            <a:r>
              <a:rPr lang="vi-VN" sz="2400" dirty="0"/>
              <a:t>Hệ thống có thể ổn định nhưng hàm năng lượng của nó quá phức tạp, không biểu diễn được bằng đa thức tổng bình phương.</a:t>
            </a:r>
            <a:endParaRPr lang="en-US" sz="2400" i="1" dirty="0"/>
          </a:p>
          <a:p>
            <a:endParaRPr lang="en-US" sz="2400" i="1" dirty="0"/>
          </a:p>
          <a:p>
            <a:endParaRPr lang="en-US" sz="2400" i="1" dirty="0"/>
          </a:p>
          <a:p>
            <a:endParaRPr lang="en-US" sz="2400" i="1" dirty="0"/>
          </a:p>
          <a:p>
            <a:endParaRPr lang="en-US" sz="2400" i="1" dirty="0"/>
          </a:p>
          <a:p>
            <a:endParaRPr lang="en-US" sz="2400" i="1" dirty="0"/>
          </a:p>
          <a:p>
            <a:pPr marL="0" indent="0">
              <a:buNone/>
            </a:pPr>
            <a:endParaRPr lang="en-US" sz="2400" i="1" dirty="0"/>
          </a:p>
          <a:p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3218940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CC3093-1CDC-10B5-CAB3-98A7522F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61FC5B-40E8-B27E-220B-577C9686F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9.2.3 </a:t>
            </a:r>
            <a:r>
              <a:rPr lang="en-US" sz="2400" dirty="0"/>
              <a:t>Region of attraction estimation for polynomial systems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8B1E3BB-796D-0AD0-16D4-BFE607C3BF61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S-procedure</a:t>
                </a:r>
              </a:p>
              <a:p>
                <a:r>
                  <a:rPr lang="en-US" dirty="0" err="1"/>
                  <a:t>Giả</a:t>
                </a:r>
                <a:r>
                  <a:rPr lang="en-US" dirty="0"/>
                  <a:t> </a:t>
                </a:r>
                <a:r>
                  <a:rPr lang="en-US" dirty="0" err="1"/>
                  <a:t>sử</a:t>
                </a:r>
                <a:r>
                  <a:rPr lang="en-US" dirty="0"/>
                  <a:t> </a:t>
                </a:r>
                <a:r>
                  <a:rPr lang="en-US" dirty="0" err="1"/>
                  <a:t>muốn</a:t>
                </a:r>
                <a:r>
                  <a:rPr lang="en-US" dirty="0"/>
                  <a:t> </a:t>
                </a:r>
                <a:r>
                  <a:rPr lang="en-US" dirty="0" err="1"/>
                  <a:t>kiểm</a:t>
                </a:r>
                <a:r>
                  <a:rPr lang="en-US" dirty="0"/>
                  <a:t> </a:t>
                </a:r>
                <a:r>
                  <a:rPr lang="en-US" dirty="0" err="1"/>
                  <a:t>tra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</a:t>
                </a:r>
                <a:r>
                  <a:rPr lang="vi-VN" dirty="0"/>
                  <a:t>trong vùng được giới hạn bởi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≤00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Tìm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(SOS) </a:t>
                </a:r>
                <a:r>
                  <a:rPr lang="en-US" dirty="0" err="1"/>
                  <a:t>sao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        p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≥0 ∀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SOS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kiểm</a:t>
                </a:r>
                <a:r>
                  <a:rPr lang="en-US" dirty="0"/>
                  <a:t> </a:t>
                </a:r>
                <a:r>
                  <a:rPr lang="en-US" dirty="0" err="1"/>
                  <a:t>tra</a:t>
                </a:r>
                <a:r>
                  <a:rPr lang="en-US" dirty="0"/>
                  <a:t> </a:t>
                </a:r>
                <a:r>
                  <a:rPr lang="en-US" dirty="0" err="1"/>
                  <a:t>dương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toàn</a:t>
                </a:r>
                <a:r>
                  <a:rPr lang="en-US" dirty="0"/>
                  <a:t> </a:t>
                </a:r>
                <a:r>
                  <a:rPr lang="en-US" dirty="0" err="1"/>
                  <a:t>bộ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, </a:t>
                </a:r>
                <a:r>
                  <a:rPr lang="en-US" dirty="0" err="1"/>
                  <a:t>nhưng</a:t>
                </a:r>
                <a:r>
                  <a:rPr lang="en-US" dirty="0"/>
                  <a:t> k </a:t>
                </a:r>
                <a:r>
                  <a:rPr lang="en-US" dirty="0" err="1"/>
                  <a:t>biết</a:t>
                </a:r>
                <a:r>
                  <a:rPr lang="en-US" dirty="0"/>
                  <a:t> </a:t>
                </a:r>
                <a:r>
                  <a:rPr lang="en-US" dirty="0" err="1"/>
                  <a:t>cách</a:t>
                </a:r>
                <a:r>
                  <a:rPr lang="en-US" dirty="0"/>
                  <a:t> </a:t>
                </a:r>
                <a:r>
                  <a:rPr lang="en-US" dirty="0" err="1"/>
                  <a:t>giới</a:t>
                </a:r>
                <a:r>
                  <a:rPr lang="en-US" dirty="0"/>
                  <a:t> </a:t>
                </a:r>
                <a:r>
                  <a:rPr lang="en-US" dirty="0" err="1"/>
                  <a:t>hạn</a:t>
                </a:r>
                <a:r>
                  <a:rPr lang="en-US" dirty="0"/>
                  <a:t> </a:t>
                </a:r>
                <a:r>
                  <a:rPr lang="en-US" dirty="0" err="1"/>
                  <a:t>phạm</a:t>
                </a:r>
                <a:r>
                  <a:rPr lang="en-US" dirty="0"/>
                  <a:t> vi 1 </a:t>
                </a:r>
                <a:r>
                  <a:rPr lang="en-US" dirty="0" err="1"/>
                  <a:t>cách</a:t>
                </a:r>
                <a:r>
                  <a:rPr lang="en-US" dirty="0"/>
                  <a:t> </a:t>
                </a:r>
                <a:r>
                  <a:rPr lang="en-US" dirty="0" err="1"/>
                  <a:t>trực</a:t>
                </a:r>
                <a:r>
                  <a:rPr lang="en-US" dirty="0"/>
                  <a:t> </a:t>
                </a:r>
                <a:r>
                  <a:rPr lang="en-US" dirty="0" err="1"/>
                  <a:t>tiếp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 err="1"/>
                  <a:t>Xét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vùng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dirty="0"/>
                  <a:t>: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điều</a:t>
                </a:r>
                <a:r>
                  <a:rPr lang="en-US" dirty="0"/>
                  <a:t> </a:t>
                </a:r>
                <a:r>
                  <a:rPr lang="en-US" dirty="0" err="1"/>
                  <a:t>kiện</a:t>
                </a:r>
                <a:r>
                  <a:rPr lang="en-US" dirty="0"/>
                  <a:t> SOS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nhân</a:t>
                </a:r>
                <a:r>
                  <a:rPr lang="en-US" dirty="0"/>
                  <a:t>),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:r>
                  <a:rPr lang="en-US" dirty="0" err="1"/>
                  <a:t>tích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sẽ</a:t>
                </a:r>
                <a:r>
                  <a:rPr lang="en-US" dirty="0"/>
                  <a:t> </a:t>
                </a:r>
                <a:r>
                  <a:rPr lang="en-US" dirty="0" err="1"/>
                  <a:t>nhỏ</a:t>
                </a:r>
                <a:r>
                  <a:rPr lang="en-US" dirty="0"/>
                  <a:t> </a:t>
                </a:r>
                <a:r>
                  <a:rPr lang="en-US" dirty="0" err="1"/>
                  <a:t>hơn</a:t>
                </a:r>
                <a:r>
                  <a:rPr lang="en-US" dirty="0"/>
                  <a:t> </a:t>
                </a:r>
                <a:r>
                  <a:rPr lang="en-US" dirty="0" err="1"/>
                  <a:t>hoặc</a:t>
                </a:r>
                <a:r>
                  <a:rPr lang="en-US" dirty="0"/>
                  <a:t> </a:t>
                </a:r>
                <a:r>
                  <a:rPr lang="en-US" dirty="0" err="1"/>
                  <a:t>bằng</a:t>
                </a:r>
                <a:r>
                  <a:rPr lang="en-US" dirty="0"/>
                  <a:t> 0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8B1E3BB-796D-0AD0-16D4-BFE607C3BF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477" t="-1954" r="-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0305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89BAB-3A30-B943-78CA-7D32F04B6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16F4CE-0EA9-BC6F-CE33-B8E695CBC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2A09AD-E2C9-A845-11B6-256C53C9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9.2.3 </a:t>
            </a:r>
            <a:r>
              <a:rPr lang="en-US" sz="2400" dirty="0"/>
              <a:t>Region of attraction estimation for polynomial systems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CD4B566-FED8-6A23-D994-135370AB2E7F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( </a:t>
                </a:r>
                <a:r>
                  <a:rPr lang="en-US" dirty="0" err="1"/>
                  <a:t>là</a:t>
                </a:r>
                <a:r>
                  <a:rPr lang="en-US" dirty="0"/>
                  <a:t> SOS) =&gt; p(x)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Ràng</a:t>
                </a:r>
                <a:r>
                  <a:rPr lang="en-US" dirty="0"/>
                  <a:t> </a:t>
                </a:r>
                <a:r>
                  <a:rPr lang="en-US" dirty="0" err="1"/>
                  <a:t>buộc</a:t>
                </a:r>
                <a:r>
                  <a:rPr lang="en-US" dirty="0"/>
                  <a:t> </a:t>
                </a:r>
                <a:r>
                  <a:rPr lang="en-US" dirty="0" err="1"/>
                  <a:t>đẳng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g(x) = 0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CD4B566-FED8-6A23-D994-135370AB2E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266" t="-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721F3BD-8065-157A-1EF9-D803966B0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68" y="2104840"/>
            <a:ext cx="7802064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922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380BD-DE2E-A950-BFD1-75A0BB0D3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1F7C81-BDC8-A61E-8DB1-9BDDF21E6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E458CE-B01C-A320-5EAA-A77F0DC43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9.2.3 </a:t>
            </a:r>
            <a:r>
              <a:rPr lang="en-US" sz="2400" dirty="0"/>
              <a:t>Region of attraction estimation for polynomial systems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23C2F4-3EEE-41B1-DD32-1B956B25FF93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Công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cơ</a:t>
                </a:r>
                <a:r>
                  <a:rPr lang="en-US" dirty="0"/>
                  <a:t> </a:t>
                </a:r>
                <a:r>
                  <a:rPr lang="en-US" dirty="0" err="1"/>
                  <a:t>bản</a:t>
                </a:r>
                <a:r>
                  <a:rPr lang="en-US" dirty="0"/>
                  <a:t> </a:t>
                </a:r>
                <a:r>
                  <a:rPr lang="en-US" dirty="0" err="1"/>
                  <a:t>về</a:t>
                </a:r>
                <a:r>
                  <a:rPr lang="en-US" dirty="0"/>
                  <a:t> </a:t>
                </a:r>
                <a:r>
                  <a:rPr lang="en-US" dirty="0" err="1"/>
                  <a:t>vùng</a:t>
                </a:r>
                <a:r>
                  <a:rPr lang="en-US" dirty="0"/>
                  <a:t> </a:t>
                </a:r>
                <a:r>
                  <a:rPr lang="en-US" dirty="0" err="1"/>
                  <a:t>hấp</a:t>
                </a:r>
                <a:r>
                  <a:rPr lang="en-US" dirty="0"/>
                  <a:t> </a:t>
                </a:r>
                <a:r>
                  <a:rPr lang="en-US" dirty="0" err="1"/>
                  <a:t>dẫn</a:t>
                </a:r>
                <a:r>
                  <a:rPr lang="en-US" dirty="0"/>
                  <a:t> </a:t>
                </a:r>
              </a:p>
              <a:p>
                <a:r>
                  <a:rPr lang="en-US" dirty="0" err="1"/>
                  <a:t>Xét</a:t>
                </a:r>
                <a:r>
                  <a:rPr lang="en-US" dirty="0"/>
                  <a:t> 1 </a:t>
                </a:r>
                <a:r>
                  <a:rPr lang="en-US" dirty="0" err="1"/>
                  <a:t>vùng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ể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cho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&lt;0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tr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ê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ù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ng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:r>
                  <a:rPr lang="en-US" dirty="0" err="1"/>
                  <a:t>chuyển</a:t>
                </a:r>
                <a:r>
                  <a:rPr lang="en-US" dirty="0"/>
                  <a:t> </a:t>
                </a:r>
                <a:r>
                  <a:rPr lang="en-US" dirty="0" err="1"/>
                  <a:t>về</a:t>
                </a:r>
                <a:r>
                  <a:rPr lang="en-US" dirty="0"/>
                  <a:t> </a:t>
                </a:r>
                <a:r>
                  <a:rPr lang="en-US" dirty="0" err="1"/>
                  <a:t>dạng</a:t>
                </a:r>
                <a:r>
                  <a:rPr lang="en-US" dirty="0"/>
                  <a:t> SOS: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à </m:t>
                    </m:r>
                    <m:r>
                      <m:rPr>
                        <m:nor/>
                      </m:rPr>
                      <a:rPr lang="en-US" i="0" smtClean="0">
                        <a:latin typeface="Cambria Math" panose="02040503050406030204" pitchFamily="18" charset="0"/>
                      </a:rPr>
                      <m:t>SOS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Trong </a:t>
                </a:r>
                <a:r>
                  <a:rPr lang="en-US" dirty="0" err="1"/>
                  <a:t>vùng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 err="1"/>
                  <a:t>Vì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nên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Tổng</a:t>
                </a:r>
                <a:r>
                  <a:rPr lang="en-US" dirty="0"/>
                  <a:t>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SOS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ê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buộc</a:t>
                </a:r>
                <a:r>
                  <a:rPr lang="en-US" dirty="0"/>
                  <a:t> </a:t>
                </a:r>
                <a:r>
                  <a:rPr lang="en-US" dirty="0" err="1"/>
                  <a:t>phải</a:t>
                </a:r>
                <a:r>
                  <a:rPr lang="en-US" dirty="0"/>
                  <a:t> </a:t>
                </a:r>
                <a:r>
                  <a:rPr lang="en-US" dirty="0" err="1"/>
                  <a:t>dương</a:t>
                </a:r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23C2F4-3EEE-41B1-DD32-1B956B25FF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266" t="-19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2549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72ACC-819C-9A1C-72D8-585385091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6965F0-C048-C5CC-578A-C190460D9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6586FB-EC98-0E0A-4E17-57E7BEB9C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9.2.3 </a:t>
            </a:r>
            <a:r>
              <a:rPr lang="en-US" sz="2400" dirty="0"/>
              <a:t>Region of attraction estimation for polynomial systems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B5AAAB-ACD0-7F76-BC5E-51E2A8F1B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178" y="980733"/>
            <a:ext cx="8011643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0821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6ED35-ADCF-C0DD-8C94-82D43BC99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D3B1F-D439-A7DB-AE60-B0449915E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EB9325-322B-13E7-733B-2DB848532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9.2.3 </a:t>
            </a:r>
            <a:r>
              <a:rPr lang="en-US" sz="2400" dirty="0"/>
              <a:t>Region of attraction estimation for polynomial systems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9948CFE-B338-6B39-6A6F-76E71F4AA14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Trong </a:t>
                </a:r>
                <a:r>
                  <a:rPr lang="en-US" dirty="0" err="1"/>
                  <a:t>bài</a:t>
                </a:r>
                <a:r>
                  <a:rPr lang="en-US" dirty="0"/>
                  <a:t> </a:t>
                </a:r>
                <a:r>
                  <a:rPr lang="en-US" dirty="0" err="1"/>
                  <a:t>toán</a:t>
                </a:r>
                <a:r>
                  <a:rPr lang="en-US" dirty="0"/>
                  <a:t> </a:t>
                </a:r>
                <a:r>
                  <a:rPr lang="en-US" dirty="0" err="1"/>
                  <a:t>ổn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, ta </a:t>
                </a:r>
                <a:r>
                  <a:rPr lang="en-US" dirty="0" err="1"/>
                  <a:t>muốn</a:t>
                </a:r>
                <a:r>
                  <a:rPr lang="en-US" dirty="0"/>
                  <a:t> </a:t>
                </a:r>
                <a:r>
                  <a:rPr lang="en-US" dirty="0" err="1"/>
                  <a:t>tìm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tập</a:t>
                </a:r>
                <a:r>
                  <a:rPr lang="en-US" dirty="0"/>
                  <a:t> </a:t>
                </a:r>
                <a:r>
                  <a:rPr lang="en-US" dirty="0" err="1"/>
                  <a:t>mức</a:t>
                </a:r>
                <a:r>
                  <a:rPr lang="en-US" dirty="0"/>
                  <a:t> (level set)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/>
                      <m:t>sao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cho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</m:t>
                    </m:r>
                    <m:r>
                      <m:rPr>
                        <m:nor/>
                      </m:rPr>
                      <a:rPr lang="en-US"/>
                      <m:t>ê</m:t>
                    </m:r>
                    <m:r>
                      <m:rPr>
                        <m:nor/>
                      </m:rPr>
                      <a:rPr lang="en-US"/>
                      <m:t>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trong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</m:t>
                    </m:r>
                    <m:r>
                      <m:rPr>
                        <m:nor/>
                      </m:rPr>
                      <a:rPr lang="en-US"/>
                      <m:t>ậ</m:t>
                    </m:r>
                    <m:r>
                      <m:rPr>
                        <m:nor/>
                      </m:rPr>
                      <a:rPr lang="en-US"/>
                      <m:t>p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</m:t>
                    </m:r>
                    <m:r>
                      <m:rPr>
                        <m:nor/>
                      </m:rPr>
                      <a:rPr lang="en-US"/>
                      <m:t>à</m:t>
                    </m:r>
                    <m:r>
                      <m:rPr>
                        <m:nor/>
                      </m:rPr>
                      <a:rPr lang="en-US"/>
                      <m:t>y</m:t>
                    </m:r>
                    <m:r>
                      <m:rPr>
                        <m:nor/>
                      </m:rPr>
                      <a:rPr lang="en-US"/>
                      <m:t>, </m:t>
                    </m:r>
                    <m:r>
                      <m:rPr>
                        <m:nor/>
                      </m:rPr>
                      <a:rPr lang="en-US"/>
                      <m:t>h</m:t>
                    </m:r>
                    <m:r>
                      <m:rPr>
                        <m:nor/>
                      </m:rPr>
                      <a:rPr lang="en-US"/>
                      <m:t>ệ </m:t>
                    </m:r>
                    <m:r>
                      <m:rPr>
                        <m:nor/>
                      </m:rPr>
                      <a:rPr lang="en-US"/>
                      <m:t>th</m:t>
                    </m:r>
                    <m:r>
                      <m:rPr>
                        <m:nor/>
                      </m:rPr>
                      <a:rPr lang="en-US"/>
                      <m:t>ố</m:t>
                    </m:r>
                    <m:r>
                      <m:rPr>
                        <m:nor/>
                      </m:rPr>
                      <a:rPr lang="en-US"/>
                      <m:t>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lu</m:t>
                    </m:r>
                    <m:r>
                      <m:rPr>
                        <m:nor/>
                      </m:rPr>
                      <a:rPr lang="en-US"/>
                      <m:t>ô</m:t>
                    </m:r>
                    <m:r>
                      <m:rPr>
                        <m:nor/>
                      </m:rPr>
                      <a:rPr lang="en-US"/>
                      <m:t>n</m:t>
                    </m:r>
                    <m:r>
                      <m:rPr>
                        <m:nor/>
                      </m:rPr>
                      <a:rPr lang="en-US" b="0" i="0" smtClean="0"/>
                      <m:t> ổ</m:t>
                    </m:r>
                    <m:r>
                      <m:rPr>
                        <m:nor/>
                      </m:rPr>
                      <a:rPr lang="en-US" b="0" i="0" smtClean="0"/>
                      <m:t>n</m:t>
                    </m:r>
                    <m:r>
                      <m:rPr>
                        <m:nor/>
                      </m:rPr>
                      <a:rPr lang="en-US" b="0" i="0" smtClean="0"/>
                      <m:t> đị</m:t>
                    </m:r>
                    <m:r>
                      <m:rPr>
                        <m:nor/>
                      </m:rPr>
                      <a:rPr lang="en-US" b="0" i="0" smtClean="0"/>
                      <m:t>nh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v</m:t>
                    </m:r>
                    <m:r>
                      <m:rPr>
                        <m:nor/>
                      </m:rPr>
                      <a:rPr lang="en-US"/>
                      <m:t>ề </m:t>
                    </m:r>
                    <m:r>
                      <m:rPr>
                        <m:nor/>
                      </m:rPr>
                      <a:rPr lang="en-US"/>
                      <m:t>g</m:t>
                    </m:r>
                    <m:r>
                      <m:rPr>
                        <m:nor/>
                      </m:rPr>
                      <a:rPr lang="en-US"/>
                      <m:t>ố</m:t>
                    </m:r>
                    <m:r>
                      <m:rPr>
                        <m:nor/>
                      </m:rPr>
                      <a:rPr lang="en-US"/>
                      <m:t>c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</m:t>
                    </m:r>
                    <m:r>
                      <m:rPr>
                        <m:nor/>
                      </m:rPr>
                      <a:rPr lang="en-US"/>
                      <m:t>ọ</m:t>
                    </m:r>
                    <m:r>
                      <m:rPr>
                        <m:nor/>
                      </m:rPr>
                      <a:rPr lang="en-US"/>
                      <m:t>a</m:t>
                    </m:r>
                    <m:r>
                      <m:rPr>
                        <m:nor/>
                      </m:rPr>
                      <a:rPr lang="en-US"/>
                      <m:t> độ.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 err="1"/>
                  <a:t>Tối</a:t>
                </a:r>
                <a:r>
                  <a:rPr lang="en-US" dirty="0"/>
                  <a:t> </a:t>
                </a:r>
                <a:r>
                  <a:rPr lang="en-US" dirty="0" err="1"/>
                  <a:t>ưu</a:t>
                </a:r>
                <a:r>
                  <a:rPr lang="en-US" dirty="0"/>
                  <a:t> </a:t>
                </a:r>
                <a:r>
                  <a:rPr lang="en-US" dirty="0" err="1"/>
                  <a:t>vùng</a:t>
                </a:r>
                <a:r>
                  <a:rPr lang="en-US" dirty="0"/>
                  <a:t> </a:t>
                </a:r>
                <a:r>
                  <a:rPr lang="en-US" dirty="0" err="1"/>
                  <a:t>hấp</a:t>
                </a:r>
                <a:r>
                  <a:rPr lang="en-US" dirty="0"/>
                  <a:t> </a:t>
                </a:r>
                <a:r>
                  <a:rPr lang="en-US" dirty="0" err="1"/>
                  <a:t>dẫn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9948CFE-B338-6B39-6A6F-76E71F4AA1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266" t="-19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6E3D2D8-1430-E3A5-E09A-81E7DEE08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850" y="2052964"/>
            <a:ext cx="4686954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894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6E92E-D7CB-7609-52B3-A43FEB265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642921-2D6C-08A7-936F-74BFCF3B9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87D012-AFE0-A819-291D-F187CC7BA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9.2.3 </a:t>
            </a:r>
            <a:r>
              <a:rPr lang="en-US" sz="2400" dirty="0"/>
              <a:t>Region of attraction estimation for polynomial systems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59F72C-7BA0-E4A8-3A81-BEDCA1920793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Example 9.11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 err="1"/>
                  <a:t>Xét</a:t>
                </a:r>
                <a:r>
                  <a:rPr lang="en-US" dirty="0"/>
                  <a:t> </a:t>
                </a:r>
                <a:r>
                  <a:rPr lang="en-US" dirty="0" err="1"/>
                  <a:t>công</a:t>
                </a:r>
                <a:r>
                  <a:rPr lang="en-US" dirty="0"/>
                  <a:t> </a:t>
                </a:r>
                <a:r>
                  <a:rPr lang="en-US" dirty="0" err="1"/>
                  <a:t>cụ</a:t>
                </a:r>
                <a:r>
                  <a:rPr lang="en-US" dirty="0"/>
                  <a:t> SOS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tiến</a:t>
                </a:r>
                <a:r>
                  <a:rPr lang="en-US" dirty="0"/>
                  <a:t> </a:t>
                </a:r>
                <a:r>
                  <a:rPr lang="en-US" dirty="0" err="1"/>
                  <a:t>gần</a:t>
                </a:r>
                <a:r>
                  <a:rPr lang="en-US" dirty="0"/>
                  <a:t> </a:t>
                </a:r>
                <a:r>
                  <a:rPr lang="en-US" dirty="0" err="1"/>
                  <a:t>đến</a:t>
                </a:r>
                <a:r>
                  <a:rPr lang="en-US" dirty="0"/>
                  <a:t> p=1 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59F72C-7BA0-E4A8-3A81-BEDCA19207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266" t="-19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DE5C69C-2E09-4A48-9776-6CD4972BC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955" y="2367730"/>
            <a:ext cx="6587140" cy="391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459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5723</TotalTime>
  <Words>1575</Words>
  <Application>Microsoft Office PowerPoint</Application>
  <PresentationFormat>On-screen Show (4:3)</PresentationFormat>
  <Paragraphs>172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 Math</vt:lpstr>
      <vt:lpstr>Lato</vt:lpstr>
      <vt:lpstr>Office Theme</vt:lpstr>
      <vt:lpstr>PowerPoint Presentation</vt:lpstr>
      <vt:lpstr>9.2 Lyapunov analysis with convex optimization</vt:lpstr>
      <vt:lpstr>9.2.1 Lyner systems</vt:lpstr>
      <vt:lpstr>9.2.1 Lyner systems</vt:lpstr>
      <vt:lpstr>9.2 Positive Semi-definite - PSD</vt:lpstr>
      <vt:lpstr>9.2 Positive Semi-definite - PSD</vt:lpstr>
      <vt:lpstr>9.2 Positive Semi-definite - PSD</vt:lpstr>
      <vt:lpstr>9.2.1 Lyner systems</vt:lpstr>
      <vt:lpstr>9.2.2 Global analysis for polynomial systems </vt:lpstr>
      <vt:lpstr>9.2.2 Global analysis for polynomial systems </vt:lpstr>
      <vt:lpstr>9.2.2 Global analysis for polynomial systems </vt:lpstr>
      <vt:lpstr>9.2.2 Global analysis for polynomial systems </vt:lpstr>
      <vt:lpstr>9.2.2 Global analysis for polynomial systems </vt:lpstr>
      <vt:lpstr>9.2.2 Global analysis for polynomial systems </vt:lpstr>
      <vt:lpstr>9.2.2 Global analysis for polynomial systems </vt:lpstr>
      <vt:lpstr>9.2.2 Global analysis for polynomial systems </vt:lpstr>
      <vt:lpstr>9.2.2 Global analysis for polynomial systems </vt:lpstr>
      <vt:lpstr>9.2.3 Region of attraction estimation for polynomial systems </vt:lpstr>
      <vt:lpstr>9.2.3 Region of attraction estimation for polynomial systems </vt:lpstr>
      <vt:lpstr>9.2.3 Region of attraction estimation for polynomial systems </vt:lpstr>
      <vt:lpstr>9.2.3 Region of attraction estimation for polynomial systems </vt:lpstr>
      <vt:lpstr>9.2.3 Region of attraction estimation for polynomial systems </vt:lpstr>
      <vt:lpstr>9.2.3 Region of attraction estimation for polynomial systems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Minh Tuong 202417603</cp:lastModifiedBy>
  <cp:revision>27</cp:revision>
  <dcterms:created xsi:type="dcterms:W3CDTF">2021-05-28T04:32:29Z</dcterms:created>
  <dcterms:modified xsi:type="dcterms:W3CDTF">2026-03-24T05:55:27Z</dcterms:modified>
</cp:coreProperties>
</file>